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Inter Bold"/>
      <p:regular r:id="rId201314"/>
    </p:embeddedFont>
    <p:embeddedFont>
      <p:font typeface="Inter"/>
      <p:regular r:id="rId201315"/>
    </p:embeddedFont>
    <p:embeddedFont>
      <p:font typeface="Inter Black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svg"/><Relationship Id="rId4" Type="http://schemas.openxmlformats.org/officeDocument/2006/relationships/image" Target="../media/image-2-2.png"/><Relationship Id="rId5" Type="http://schemas.openxmlformats.org/officeDocument/2006/relationships/image" Target="../media/image-2-3.svg"/><Relationship Id="rId6" Type="http://schemas.openxmlformats.org/officeDocument/2006/relationships/image" Target="../media/image-2-6.png"/><Relationship Id="rId7" Type="http://schemas.openxmlformats.org/officeDocument/2006/relationships/image" Target="../media/image-2-7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image" Target="../media/image-3-2.png"/><Relationship Id="rId5" Type="http://schemas.openxmlformats.org/officeDocument/2006/relationships/image" Target="../media/image-3-3.svg"/><Relationship Id="rId6" Type="http://schemas.openxmlformats.org/officeDocument/2006/relationships/image" Target="../media/image-3-2.png"/><Relationship Id="rId7" Type="http://schemas.openxmlformats.org/officeDocument/2006/relationships/image" Target="../media/image-3-3.svg"/><Relationship Id="rId8" Type="http://schemas.openxmlformats.org/officeDocument/2006/relationships/image" Target="../media/image-3-2.png"/><Relationship Id="rId9" Type="http://schemas.openxmlformats.org/officeDocument/2006/relationships/image" Target="../media/image-3-3.svg"/><Relationship Id="rId10" Type="http://schemas.openxmlformats.org/officeDocument/2006/relationships/image" Target="../media/image-3-2.png"/><Relationship Id="rId11" Type="http://schemas.openxmlformats.org/officeDocument/2006/relationships/image" Target="../media/image-3-3.svg"/><Relationship Id="rId12" Type="http://schemas.openxmlformats.org/officeDocument/2006/relationships/slideLayout" Target="../slideLayouts/slideLayout2.xml"/><Relationship Id="rId1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image" Target="../media/image-8-3.svg"/><Relationship Id="rId4" Type="http://schemas.openxmlformats.org/officeDocument/2006/relationships/image" Target="../media/image-8-4.png"/><Relationship Id="rId5" Type="http://schemas.openxmlformats.org/officeDocument/2006/relationships/image" Target="../media/image-8-5.svg"/><Relationship Id="rId6" Type="http://schemas.openxmlformats.org/officeDocument/2006/relationships/image" Target="../media/image-8-6.png"/><Relationship Id="rId7" Type="http://schemas.openxmlformats.org/officeDocument/2006/relationships/image" Target="../media/image-8-7.svg"/><Relationship Id="rId8" Type="http://schemas.openxmlformats.org/officeDocument/2006/relationships/image" Target="../media/image-8-8.png"/><Relationship Id="rId9" Type="http://schemas.openxmlformats.org/officeDocument/2006/relationships/image" Target="../media/image-8-9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image" Target="../media/image-10-7.png"/><Relationship Id="rId8" Type="http://schemas.openxmlformats.org/officeDocument/2006/relationships/image" Target="../media/image-10-8.svg"/><Relationship Id="rId9" Type="http://schemas.openxmlformats.org/officeDocument/2006/relationships/image" Target="../media/image-10-9.png"/><Relationship Id="rId10" Type="http://schemas.openxmlformats.org/officeDocument/2006/relationships/image" Target="../media/image-10-10.sv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sv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692944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Yatrik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1348532"/>
            <a:ext cx="4722763" cy="18341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Travel Recommendation System</a:t>
            </a:r>
            <a:endParaRPr lang="en-US" sz="3850" dirty="0"/>
          </a:p>
        </p:txBody>
      </p:sp>
      <p:sp>
        <p:nvSpPr>
          <p:cNvPr id="5" name="Text 2"/>
          <p:cNvSpPr/>
          <p:nvPr/>
        </p:nvSpPr>
        <p:spPr>
          <a:xfrm>
            <a:off x="496119" y="3395290"/>
            <a:ext cx="472276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 ML-powered travel planner that recommends tourist destinations and generates personalized day-wise itineraries — built with Flutter, FastAPI, and Scikit-learn.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96119" y="4235202"/>
            <a:ext cx="672852" cy="215354"/>
          </a:xfrm>
          <a:prstGeom prst="roundRect">
            <a:avLst>
              <a:gd name="adj" fmla="val 22119"/>
            </a:avLst>
          </a:prstGeom>
          <a:solidFill>
            <a:srgbClr val="DADBF1"/>
          </a:solidFill>
          <a:ln/>
        </p:spPr>
      </p:sp>
      <p:sp>
        <p:nvSpPr>
          <p:cNvPr id="7" name="Text 4"/>
          <p:cNvSpPr/>
          <p:nvPr/>
        </p:nvSpPr>
        <p:spPr>
          <a:xfrm>
            <a:off x="581174" y="4277692"/>
            <a:ext cx="959941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FLUTTER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1239813" y="4235202"/>
            <a:ext cx="621655" cy="215354"/>
          </a:xfrm>
          <a:prstGeom prst="roundRect">
            <a:avLst>
              <a:gd name="adj" fmla="val 22119"/>
            </a:avLst>
          </a:prstGeom>
          <a:noFill/>
          <a:ln w="4763">
            <a:solidFill>
              <a:srgbClr val="4950B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324868" y="4277692"/>
            <a:ext cx="908745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FASTAPI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1932310" y="4235202"/>
            <a:ext cx="1298749" cy="215354"/>
          </a:xfrm>
          <a:prstGeom prst="roundRect">
            <a:avLst>
              <a:gd name="adj" fmla="val 22119"/>
            </a:avLst>
          </a:prstGeom>
          <a:noFill/>
          <a:ln w="4763">
            <a:solidFill>
              <a:srgbClr val="4950B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017365" y="4277692"/>
            <a:ext cx="1585838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MACHINE LEARNING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3301901" y="4235202"/>
            <a:ext cx="657374" cy="215354"/>
          </a:xfrm>
          <a:prstGeom prst="roundRect">
            <a:avLst>
              <a:gd name="adj" fmla="val 22119"/>
            </a:avLst>
          </a:prstGeom>
          <a:noFill/>
          <a:ln w="4763">
            <a:solidFill>
              <a:srgbClr val="4950B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386956" y="4277692"/>
            <a:ext cx="944463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MAPBOX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398115"/>
            <a:ext cx="4722763" cy="7890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Problem with Manual Trip Planning</a:t>
            </a:r>
            <a:endParaRPr lang="en-US" sz="24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355824"/>
            <a:ext cx="4722763" cy="111851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93762" y="1496318"/>
            <a:ext cx="4384625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Time-Consuming Research</a:t>
            </a:r>
            <a:endParaRPr lang="en-US" sz="1200" dirty="0"/>
          </a:p>
        </p:txBody>
      </p:sp>
      <p:sp>
        <p:nvSpPr>
          <p:cNvPr id="6" name="Text 2"/>
          <p:cNvSpPr/>
          <p:nvPr/>
        </p:nvSpPr>
        <p:spPr>
          <a:xfrm>
            <a:off x="693762" y="1761009"/>
            <a:ext cx="4384625" cy="5728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Travelers juggle multiple websites to compare attractions, check routes, and estimate visit durations — a tedious process, especially in unfamiliar cities.</a:t>
            </a:r>
            <a:endParaRPr lang="en-US" sz="9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119" y="2586782"/>
            <a:ext cx="4722763" cy="111851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93762" y="2727275"/>
            <a:ext cx="4384625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No Personalization</a:t>
            </a:r>
            <a:endParaRPr lang="en-US" sz="1200" dirty="0"/>
          </a:p>
        </p:txBody>
      </p:sp>
      <p:sp>
        <p:nvSpPr>
          <p:cNvPr id="9" name="Text 4"/>
          <p:cNvSpPr/>
          <p:nvPr/>
        </p:nvSpPr>
        <p:spPr>
          <a:xfrm>
            <a:off x="693762" y="2991966"/>
            <a:ext cx="4384625" cy="5728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Existing platforms show popular spots without considering individual interests like nature, history, temples, or food — one-size-fits-all recommendations.</a:t>
            </a:r>
            <a:endParaRPr lang="en-US" sz="9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6119" y="3817739"/>
            <a:ext cx="4722763" cy="927571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93762" y="3958233"/>
            <a:ext cx="4384625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Hidden Gems Stay Hidden</a:t>
            </a:r>
            <a:endParaRPr lang="en-US" sz="1200" dirty="0"/>
          </a:p>
        </p:txBody>
      </p:sp>
      <p:sp>
        <p:nvSpPr>
          <p:cNvPr id="12" name="Text 6"/>
          <p:cNvSpPr/>
          <p:nvPr/>
        </p:nvSpPr>
        <p:spPr>
          <a:xfrm>
            <a:off x="693762" y="4222924"/>
            <a:ext cx="4384625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Regional destinations in places like Chhattisgarh receive limited visibility, leaving travelers unaware of beautiful, lesser-known locations.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9855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How Yatrik Solves It</a:t>
            </a:r>
            <a:endParaRPr lang="en-US" sz="13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704255"/>
            <a:ext cx="5238080" cy="29682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11900" y="2060749"/>
            <a:ext cx="2740670" cy="255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Yatrik combines an intelligent recommendation engine with a polished mobile app. Users enter their destination, trip duration, and travel interests — and Yatrik handles the rest.</a:t>
            </a:r>
            <a:endParaRPr lang="en-US" sz="5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2684" y="3754301"/>
            <a:ext cx="106263" cy="10626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26430" y="3752106"/>
            <a:ext cx="7921451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Select city, state &amp; travel days</a:t>
            </a:r>
            <a:endParaRPr lang="en-US" sz="6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2684" y="4039977"/>
            <a:ext cx="106263" cy="106263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26430" y="4037781"/>
            <a:ext cx="7921451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Choose interests: nature, history, temples &amp; more</a:t>
            </a:r>
            <a:endParaRPr lang="en-US" sz="65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2684" y="4325652"/>
            <a:ext cx="106263" cy="106263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726430" y="4323457"/>
            <a:ext cx="7921451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ML model filters &amp; ranks tourist spots</a:t>
            </a:r>
            <a:endParaRPr lang="en-US" sz="65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22684" y="4611328"/>
            <a:ext cx="106263" cy="106263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726430" y="4609133"/>
            <a:ext cx="7921451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Day-wise itinerary generated automatically</a:t>
            </a:r>
            <a:endParaRPr lang="en-US" sz="650" dirty="0"/>
          </a:p>
        </p:txBody>
      </p:sp>
      <p:pic>
        <p:nvPicPr>
          <p:cNvPr id="13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22684" y="4897003"/>
            <a:ext cx="106263" cy="106263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726430" y="4894808"/>
            <a:ext cx="7921451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View all locations on an interactive Mapbox map</a:t>
            </a:r>
            <a:endParaRPr lang="en-US" sz="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9855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Technology Stack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496119" y="682154"/>
            <a:ext cx="8608963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Yatrik follows a modern client-server architecture — Flutter for a cross-platform frontend, FastAPI for a high-performance backend, and Scikit-learn for ML-powered recommendations.</a:t>
            </a:r>
            <a:endParaRPr lang="en-US" sz="5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846832"/>
            <a:ext cx="3989412" cy="39894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663232" y="2551881"/>
            <a:ext cx="3989412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Frontend — Flutter</a:t>
            </a:r>
            <a:endParaRPr lang="en-US" sz="650" dirty="0"/>
          </a:p>
        </p:txBody>
      </p:sp>
      <p:sp>
        <p:nvSpPr>
          <p:cNvPr id="6" name="Text 3"/>
          <p:cNvSpPr/>
          <p:nvPr/>
        </p:nvSpPr>
        <p:spPr>
          <a:xfrm>
            <a:off x="4663232" y="2698031"/>
            <a:ext cx="4446612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Single codebase for Android &amp; iOS with Firebase Google Sign-In, Mapbox maps, and a responsive Material Design UI.</a:t>
            </a:r>
            <a:endParaRPr lang="en-US" sz="550" dirty="0"/>
          </a:p>
        </p:txBody>
      </p:sp>
      <p:sp>
        <p:nvSpPr>
          <p:cNvPr id="7" name="Text 4"/>
          <p:cNvSpPr/>
          <p:nvPr/>
        </p:nvSpPr>
        <p:spPr>
          <a:xfrm>
            <a:off x="4663232" y="2818507"/>
            <a:ext cx="3989412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Backend — FastAPI</a:t>
            </a:r>
            <a:endParaRPr lang="en-US" sz="650" dirty="0"/>
          </a:p>
        </p:txBody>
      </p:sp>
      <p:sp>
        <p:nvSpPr>
          <p:cNvPr id="8" name="Text 5"/>
          <p:cNvSpPr/>
          <p:nvPr/>
        </p:nvSpPr>
        <p:spPr>
          <a:xfrm>
            <a:off x="4663232" y="2964656"/>
            <a:ext cx="3989412" cy="170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Lightweight Python framework handling API requests, ML model inference, itinerary generation, and JSON responses — deployed on Render.</a:t>
            </a:r>
            <a:endParaRPr lang="en-US" sz="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3576"/>
            <a:ext cx="8151763" cy="228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Machine Learning Model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96119" y="2280047"/>
            <a:ext cx="3986733" cy="114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Random Forest Classifier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96119" y="2431926"/>
            <a:ext cx="3986733" cy="3880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recommendation engine uses a </a:t>
            </a:r>
            <a:pPr algn="l" indent="0" marL="0">
              <a:lnSpc>
                <a:spcPct val="101000"/>
              </a:lnSpc>
              <a:buNone/>
            </a:pPr>
            <a:r>
              <a:rPr lang="en-US" sz="5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Random Forest Classifier</a:t>
            </a:r>
            <a:pPr algn="l" indent="0" marL="0">
              <a:lnSpc>
                <a:spcPct val="101000"/>
              </a:lnSpc>
              <a:spcAft>
                <a:spcPts val="250"/>
              </a:spcAft>
              <a:buNone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from Scikit-learn — chosen for its efficiency on structured tabular data and stable classification results.</a:t>
            </a:r>
            <a:endParaRPr lang="en-US" sz="550" dirty="0"/>
          </a:p>
          <a:p>
            <a:pPr algn="l" indent="0" marL="0">
              <a:lnSpc>
                <a:spcPct val="101000"/>
              </a:lnSpc>
              <a:buNone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Tourist destinations can belong to multiple categories simultaneously, so the model supports multi-interest filtering across nature, history, temples, wildlife, and more.</a:t>
            </a:r>
            <a:endParaRPr lang="en-US" sz="550" dirty="0"/>
          </a:p>
        </p:txBody>
      </p:sp>
      <p:sp>
        <p:nvSpPr>
          <p:cNvPr id="5" name="Shape 3"/>
          <p:cNvSpPr/>
          <p:nvPr/>
        </p:nvSpPr>
        <p:spPr>
          <a:xfrm>
            <a:off x="496119" y="2862337"/>
            <a:ext cx="3986733" cy="281285"/>
          </a:xfrm>
          <a:prstGeom prst="roundRect">
            <a:avLst>
              <a:gd name="adj" fmla="val 10915"/>
            </a:avLst>
          </a:prstGeom>
          <a:solidFill>
            <a:srgbClr val="DADBF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9193" y="2956322"/>
            <a:ext cx="91306" cy="7307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3574" y="2914427"/>
            <a:ext cx="3676204" cy="177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5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Dataset features include: Place Name, City, State, Lat/Lng, Ideal Hours, Popularity Score, and 8 category flags (Museum, Nature, History, Temple, Wildlife, Beach, Shopping, Foodie).</a:t>
            </a:r>
            <a:endParaRPr lang="en-US" sz="5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5911" y="720849"/>
            <a:ext cx="3986733" cy="398673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9855"/>
            <a:ext cx="8151763" cy="332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Recommendation Workflow</a:t>
            </a:r>
            <a:endParaRPr lang="en-US" sz="20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9679" y="881583"/>
            <a:ext cx="8084567" cy="34862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73714" y="3706689"/>
            <a:ext cx="1834102" cy="229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Generate Itinerary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073714" y="2899685"/>
            <a:ext cx="1834102" cy="229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Load Model &amp; Data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073714" y="2100832"/>
            <a:ext cx="1834102" cy="229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Send Request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073714" y="1293827"/>
            <a:ext cx="1834102" cy="229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Enter Preferences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96119" y="4457477"/>
            <a:ext cx="8151763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input to itinerary in seconds — the backend processes user preferences, applies the trained Random Forest model, ranks destinations by popularity and relevance, and distributes them across travel days based on ideal visiting hours.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9855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System Architecture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496119" y="2613868"/>
            <a:ext cx="3989412" cy="170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Yatrik's architecture connects five core components through clean REST API boundaries, enabling modular development and future scalability.</a:t>
            </a:r>
            <a:endParaRPr lang="en-US" sz="5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3232" y="704255"/>
            <a:ext cx="3989412" cy="398941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96119" y="4773290"/>
            <a:ext cx="2011338" cy="368201"/>
          </a:xfrm>
          <a:prstGeom prst="roundRect">
            <a:avLst>
              <a:gd name="adj" fmla="val 8086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71723" y="4848895"/>
            <a:ext cx="1860128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Flutter App</a:t>
            </a:r>
            <a:endParaRPr lang="en-US" sz="650" dirty="0"/>
          </a:p>
        </p:txBody>
      </p:sp>
      <p:sp>
        <p:nvSpPr>
          <p:cNvPr id="7" name="Text 4"/>
          <p:cNvSpPr/>
          <p:nvPr/>
        </p:nvSpPr>
        <p:spPr>
          <a:xfrm>
            <a:off x="571723" y="4980831"/>
            <a:ext cx="1860128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 input, UI, map display</a:t>
            </a:r>
            <a:endParaRPr lang="en-US" sz="550" dirty="0"/>
          </a:p>
        </p:txBody>
      </p:sp>
      <p:sp>
        <p:nvSpPr>
          <p:cNvPr id="8" name="Shape 5"/>
          <p:cNvSpPr/>
          <p:nvPr/>
        </p:nvSpPr>
        <p:spPr>
          <a:xfrm>
            <a:off x="2542877" y="4773290"/>
            <a:ext cx="2011412" cy="368201"/>
          </a:xfrm>
          <a:prstGeom prst="roundRect">
            <a:avLst>
              <a:gd name="adj" fmla="val 8086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618482" y="4848895"/>
            <a:ext cx="1860203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FastAPI Server</a:t>
            </a:r>
            <a:endParaRPr lang="en-US" sz="650" dirty="0"/>
          </a:p>
        </p:txBody>
      </p:sp>
      <p:sp>
        <p:nvSpPr>
          <p:cNvPr id="10" name="Text 7"/>
          <p:cNvSpPr/>
          <p:nvPr/>
        </p:nvSpPr>
        <p:spPr>
          <a:xfrm>
            <a:off x="2618482" y="4980831"/>
            <a:ext cx="1860203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Request handling, validation</a:t>
            </a:r>
            <a:endParaRPr lang="en-US" sz="550" dirty="0"/>
          </a:p>
        </p:txBody>
      </p:sp>
      <p:sp>
        <p:nvSpPr>
          <p:cNvPr id="11" name="Shape 8"/>
          <p:cNvSpPr/>
          <p:nvPr/>
        </p:nvSpPr>
        <p:spPr>
          <a:xfrm>
            <a:off x="4589711" y="4773290"/>
            <a:ext cx="2011338" cy="368201"/>
          </a:xfrm>
          <a:prstGeom prst="roundRect">
            <a:avLst>
              <a:gd name="adj" fmla="val 8086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665315" y="4848895"/>
            <a:ext cx="1860128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ML Model</a:t>
            </a:r>
            <a:endParaRPr lang="en-US" sz="650" dirty="0"/>
          </a:p>
        </p:txBody>
      </p:sp>
      <p:sp>
        <p:nvSpPr>
          <p:cNvPr id="13" name="Text 10"/>
          <p:cNvSpPr/>
          <p:nvPr/>
        </p:nvSpPr>
        <p:spPr>
          <a:xfrm>
            <a:off x="4665315" y="4980831"/>
            <a:ext cx="1860128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Random Forest inference</a:t>
            </a:r>
            <a:endParaRPr lang="en-US" sz="550" dirty="0"/>
          </a:p>
        </p:txBody>
      </p:sp>
      <p:sp>
        <p:nvSpPr>
          <p:cNvPr id="14" name="Shape 11"/>
          <p:cNvSpPr/>
          <p:nvPr/>
        </p:nvSpPr>
        <p:spPr>
          <a:xfrm>
            <a:off x="6636469" y="4773290"/>
            <a:ext cx="2011412" cy="368201"/>
          </a:xfrm>
          <a:prstGeom prst="roundRect">
            <a:avLst>
              <a:gd name="adj" fmla="val 8086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712074" y="4848895"/>
            <a:ext cx="1860203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Tourism Dataset</a:t>
            </a:r>
            <a:endParaRPr lang="en-US" sz="650" dirty="0"/>
          </a:p>
        </p:txBody>
      </p:sp>
      <p:sp>
        <p:nvSpPr>
          <p:cNvPr id="16" name="Text 13"/>
          <p:cNvSpPr/>
          <p:nvPr/>
        </p:nvSpPr>
        <p:spPr>
          <a:xfrm>
            <a:off x="6712074" y="4980831"/>
            <a:ext cx="1860203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CSV place data</a:t>
            </a:r>
            <a:endParaRPr lang="en-US" sz="550" dirty="0"/>
          </a:p>
        </p:txBody>
      </p:sp>
      <p:sp>
        <p:nvSpPr>
          <p:cNvPr id="17" name="Shape 14"/>
          <p:cNvSpPr/>
          <p:nvPr/>
        </p:nvSpPr>
        <p:spPr>
          <a:xfrm>
            <a:off x="496119" y="5176912"/>
            <a:ext cx="8151763" cy="368201"/>
          </a:xfrm>
          <a:prstGeom prst="roundRect">
            <a:avLst>
              <a:gd name="adj" fmla="val 8086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71723" y="5252517"/>
            <a:ext cx="8000554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Mapbox</a:t>
            </a:r>
            <a:endParaRPr lang="en-US" sz="650" dirty="0"/>
          </a:p>
        </p:txBody>
      </p:sp>
      <p:sp>
        <p:nvSpPr>
          <p:cNvPr id="19" name="Text 16"/>
          <p:cNvSpPr/>
          <p:nvPr/>
        </p:nvSpPr>
        <p:spPr>
          <a:xfrm>
            <a:off x="571723" y="5384453"/>
            <a:ext cx="8000554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Location visualization</a:t>
            </a:r>
            <a:endParaRPr lang="en-US" sz="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413221"/>
            <a:ext cx="4722763" cy="346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Features</a:t>
            </a:r>
            <a:endParaRPr lang="en-US" sz="21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25119" y="889099"/>
            <a:ext cx="221456" cy="22145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925119" y="1218679"/>
            <a:ext cx="4722763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Personalized Recommendations</a:t>
            </a:r>
            <a:endParaRPr lang="en-US" sz="1050" dirty="0"/>
          </a:p>
        </p:txBody>
      </p:sp>
      <p:sp>
        <p:nvSpPr>
          <p:cNvPr id="6" name="Text 2"/>
          <p:cNvSpPr/>
          <p:nvPr/>
        </p:nvSpPr>
        <p:spPr>
          <a:xfrm>
            <a:off x="3925119" y="1443558"/>
            <a:ext cx="4722763" cy="315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ML-powered destination suggestions tailored to your interests — nature, history, temples, wildlife, and more.</a:t>
            </a:r>
            <a:endParaRPr lang="en-US" sz="8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25119" y="1932087"/>
            <a:ext cx="221456" cy="22145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3925119" y="2261667"/>
            <a:ext cx="4722763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Auto Day-Wise Itinerary</a:t>
            </a:r>
            <a:endParaRPr lang="en-US" sz="1050" dirty="0"/>
          </a:p>
        </p:txBody>
      </p:sp>
      <p:sp>
        <p:nvSpPr>
          <p:cNvPr id="9" name="Text 4"/>
          <p:cNvSpPr/>
          <p:nvPr/>
        </p:nvSpPr>
        <p:spPr>
          <a:xfrm>
            <a:off x="3925119" y="2486546"/>
            <a:ext cx="4722763" cy="315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Destinations automatically distributed across travel days based on ideal visiting hours and popularity.</a:t>
            </a:r>
            <a:endParaRPr lang="en-US" sz="8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925119" y="2975074"/>
            <a:ext cx="221456" cy="22145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3925119" y="3304654"/>
            <a:ext cx="4722763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Interactive Mapbox Maps</a:t>
            </a:r>
            <a:endParaRPr lang="en-US" sz="1050" dirty="0"/>
          </a:p>
        </p:txBody>
      </p:sp>
      <p:sp>
        <p:nvSpPr>
          <p:cNvPr id="12" name="Text 6"/>
          <p:cNvSpPr/>
          <p:nvPr/>
        </p:nvSpPr>
        <p:spPr>
          <a:xfrm>
            <a:off x="3925119" y="3529533"/>
            <a:ext cx="4722763" cy="315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Visualize your full trip plan with map markers showing exact lat/lng coordinates for every stop.</a:t>
            </a:r>
            <a:endParaRPr lang="en-US" sz="8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925119" y="4018062"/>
            <a:ext cx="221456" cy="221456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3925119" y="4347642"/>
            <a:ext cx="4722763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Trip Sharing</a:t>
            </a:r>
            <a:endParaRPr lang="en-US" sz="1050" dirty="0"/>
          </a:p>
        </p:txBody>
      </p:sp>
      <p:sp>
        <p:nvSpPr>
          <p:cNvPr id="15" name="Text 8"/>
          <p:cNvSpPr/>
          <p:nvPr/>
        </p:nvSpPr>
        <p:spPr>
          <a:xfrm>
            <a:off x="3925119" y="4572521"/>
            <a:ext cx="4722763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Share your generated itinerary with friends and family directly from the app.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41871"/>
            <a:ext cx="8151763" cy="276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Results &amp; API Reference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496119" y="857176"/>
            <a:ext cx="3967832" cy="1431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✅</a:t>
            </a:r>
            <a:pPr algn="l"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Verified Working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1055712"/>
            <a:ext cx="3967832" cy="2303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 major modules — Flutter frontend, FastAPI backend, ML model, and Mapbox integration — work seamlessly together to generate personalized travel plans.</a:t>
            </a:r>
            <a:endParaRPr lang="en-US" sz="650" dirty="0"/>
          </a:p>
        </p:txBody>
      </p:sp>
      <p:sp>
        <p:nvSpPr>
          <p:cNvPr id="5" name="Text 3"/>
          <p:cNvSpPr/>
          <p:nvPr/>
        </p:nvSpPr>
        <p:spPr>
          <a:xfrm>
            <a:off x="4684812" y="857176"/>
            <a:ext cx="3967832" cy="138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Sample Request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684812" y="1057870"/>
            <a:ext cx="3967832" cy="1098649"/>
          </a:xfrm>
          <a:prstGeom prst="roundRect">
            <a:avLst>
              <a:gd name="adj" fmla="val 3387"/>
            </a:avLst>
          </a:prstGeom>
          <a:solidFill>
            <a:srgbClr val="F2F2F2"/>
          </a:solidFill>
          <a:ln/>
        </p:spPr>
      </p:sp>
      <p:sp>
        <p:nvSpPr>
          <p:cNvPr id="7" name="Shape 5"/>
          <p:cNvSpPr/>
          <p:nvPr/>
        </p:nvSpPr>
        <p:spPr>
          <a:xfrm>
            <a:off x="4680421" y="1057870"/>
            <a:ext cx="3976613" cy="1098649"/>
          </a:xfrm>
          <a:prstGeom prst="roundRect">
            <a:avLst>
              <a:gd name="adj" fmla="val 1210"/>
            </a:avLst>
          </a:prstGeom>
          <a:solidFill>
            <a:srgbClr val="F2F2F2"/>
          </a:solidFill>
          <a:ln/>
        </p:spPr>
      </p:sp>
      <p:sp>
        <p:nvSpPr>
          <p:cNvPr id="8" name="Text 6"/>
          <p:cNvSpPr/>
          <p:nvPr/>
        </p:nvSpPr>
        <p:spPr>
          <a:xfrm>
            <a:off x="4791149" y="1146423"/>
            <a:ext cx="3755157" cy="9215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6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6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6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"City": "Raipur",</a:t>
            </a:r>
            <a:endParaRPr lang="en-US" sz="6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6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"State": "Chhattisgarh",</a:t>
            </a:r>
            <a:endParaRPr lang="en-US" sz="6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6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"Days": 4,</a:t>
            </a:r>
            <a:endParaRPr lang="en-US" sz="6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6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"Is_Nature": 1,</a:t>
            </a:r>
            <a:endParaRPr lang="en-US" sz="6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6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"Is_History": 1,</a:t>
            </a:r>
            <a:endParaRPr lang="en-US" sz="6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6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"Is_Temple": 0</a:t>
            </a:r>
            <a:endParaRPr lang="en-US" sz="6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6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4684812" y="2218804"/>
            <a:ext cx="3967832" cy="138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Sample Response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684812" y="2419499"/>
            <a:ext cx="3967832" cy="1674614"/>
          </a:xfrm>
          <a:prstGeom prst="roundRect">
            <a:avLst>
              <a:gd name="adj" fmla="val 2222"/>
            </a:avLst>
          </a:prstGeom>
          <a:solidFill>
            <a:srgbClr val="F2F2F2"/>
          </a:solidFill>
          <a:ln/>
        </p:spPr>
      </p:sp>
      <p:sp>
        <p:nvSpPr>
          <p:cNvPr id="11" name="Shape 9"/>
          <p:cNvSpPr/>
          <p:nvPr/>
        </p:nvSpPr>
        <p:spPr>
          <a:xfrm>
            <a:off x="4680421" y="2419499"/>
            <a:ext cx="3976613" cy="1674614"/>
          </a:xfrm>
          <a:prstGeom prst="roundRect">
            <a:avLst>
              <a:gd name="adj" fmla="val 794"/>
            </a:avLst>
          </a:prstGeom>
          <a:solidFill>
            <a:srgbClr val="F2F2F2"/>
          </a:solidFill>
          <a:ln/>
        </p:spPr>
      </p:sp>
      <p:sp>
        <p:nvSpPr>
          <p:cNvPr id="12" name="Text 10"/>
          <p:cNvSpPr/>
          <p:nvPr/>
        </p:nvSpPr>
        <p:spPr>
          <a:xfrm>
            <a:off x="4791149" y="2508052"/>
            <a:ext cx="3755157" cy="14975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6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6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6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"success": true,</a:t>
            </a:r>
            <a:endParaRPr lang="en-US" sz="6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6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"spots_found": 20,</a:t>
            </a:r>
            <a:endParaRPr lang="en-US" sz="6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6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"itinerary": [</a:t>
            </a:r>
            <a:endParaRPr lang="en-US" sz="6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6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6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6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"day": 1,</a:t>
            </a:r>
            <a:endParaRPr lang="en-US" sz="6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6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"place_name": "Nandanvan Zoo",</a:t>
            </a:r>
            <a:endParaRPr lang="en-US" sz="6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6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"lat": 21.21,</a:t>
            </a:r>
            <a:endParaRPr lang="en-US" sz="6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6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"lng": 81.65,</a:t>
            </a:r>
            <a:endParaRPr lang="en-US" sz="6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6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"categories": ["Wildlife"]</a:t>
            </a:r>
            <a:endParaRPr lang="en-US" sz="6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6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6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6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]</a:t>
            </a:r>
            <a:endParaRPr lang="en-US" sz="6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6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650" dirty="0"/>
          </a:p>
        </p:txBody>
      </p:sp>
      <p:sp>
        <p:nvSpPr>
          <p:cNvPr id="13" name="Shape 11"/>
          <p:cNvSpPr/>
          <p:nvPr/>
        </p:nvSpPr>
        <p:spPr>
          <a:xfrm>
            <a:off x="496119" y="4218682"/>
            <a:ext cx="4048199" cy="482947"/>
          </a:xfrm>
          <a:prstGeom prst="roundRect">
            <a:avLst>
              <a:gd name="adj" fmla="val 7706"/>
            </a:avLst>
          </a:prstGeom>
          <a:solidFill>
            <a:srgbClr val="FFFFFF"/>
          </a:solidFill>
          <a:ln w="9525">
            <a:solidFill>
              <a:srgbClr val="C0C1D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196" y="4316760"/>
            <a:ext cx="3852044" cy="138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Backend Status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94196" y="4488359"/>
            <a:ext cx="3852044" cy="115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GET </a:t>
            </a:r>
            <a:pPr algn="l" indent="0" marL="0">
              <a:lnSpc>
                <a:spcPct val="108000"/>
              </a:lnSpc>
              <a:buNone/>
            </a:pPr>
            <a:r>
              <a:rPr lang="en-US" sz="6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pPr algn="l" indent="0" marL="0">
              <a:lnSpc>
                <a:spcPct val="108000"/>
              </a:lnSpc>
              <a:buNone/>
            </a:pPr>
            <a:r>
              <a:rPr lang="en-US" sz="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health check</a:t>
            </a:r>
            <a:endParaRPr lang="en-US" sz="650" dirty="0"/>
          </a:p>
        </p:txBody>
      </p:sp>
      <p:sp>
        <p:nvSpPr>
          <p:cNvPr id="16" name="Shape 14"/>
          <p:cNvSpPr/>
          <p:nvPr/>
        </p:nvSpPr>
        <p:spPr>
          <a:xfrm>
            <a:off x="4599682" y="4218682"/>
            <a:ext cx="4048199" cy="482947"/>
          </a:xfrm>
          <a:prstGeom prst="roundRect">
            <a:avLst>
              <a:gd name="adj" fmla="val 7706"/>
            </a:avLst>
          </a:prstGeom>
          <a:solidFill>
            <a:srgbClr val="FFFFFF"/>
          </a:solidFill>
          <a:ln w="9525">
            <a:solidFill>
              <a:srgbClr val="C0C1D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97760" y="4316760"/>
            <a:ext cx="3852044" cy="138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Recommendations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697760" y="4488359"/>
            <a:ext cx="3852044" cy="115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 </a:t>
            </a:r>
            <a:pPr algn="l" indent="0" marL="0">
              <a:lnSpc>
                <a:spcPct val="108000"/>
              </a:lnSpc>
              <a:buNone/>
            </a:pPr>
            <a:r>
              <a:rPr lang="en-US" sz="6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/recommend</a:t>
            </a:r>
            <a:pPr algn="l" indent="0" marL="0">
              <a:lnSpc>
                <a:spcPct val="108000"/>
              </a:lnSpc>
              <a:buNone/>
            </a:pPr>
            <a:r>
              <a:rPr lang="en-US" sz="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returns itinerary JSON</a:t>
            </a:r>
            <a:endParaRPr lang="en-US" sz="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97830"/>
            <a:ext cx="8151763" cy="352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What's Next for Yatrik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96119" y="1030784"/>
            <a:ext cx="8608963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Currently focused on Chhattisgarh tourism, Yatrik's architecture is built to scale. The roadmap transforms it into a complete AI-powered travel platform.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96119" y="1294358"/>
            <a:ext cx="4030861" cy="1057126"/>
          </a:xfrm>
          <a:prstGeom prst="roundRect">
            <a:avLst>
              <a:gd name="adj" fmla="val 4488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13842" y="1412081"/>
            <a:ext cx="338882" cy="338882"/>
          </a:xfrm>
          <a:prstGeom prst="ellipse">
            <a:avLst/>
          </a:prstGeom>
          <a:solidFill>
            <a:srgbClr val="4950B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7008" y="1505248"/>
            <a:ext cx="152474" cy="15247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13842" y="1840929"/>
            <a:ext cx="3795415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AI Travel Assistant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13842" y="2071390"/>
            <a:ext cx="3795415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Conversational planning via OpenAI APIs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4616946" y="1294358"/>
            <a:ext cx="4030935" cy="1057126"/>
          </a:xfrm>
          <a:prstGeom prst="roundRect">
            <a:avLst>
              <a:gd name="adj" fmla="val 4488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734669" y="1412081"/>
            <a:ext cx="338882" cy="338882"/>
          </a:xfrm>
          <a:prstGeom prst="ellipse">
            <a:avLst/>
          </a:prstGeom>
          <a:solidFill>
            <a:srgbClr val="4950B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27836" y="1505248"/>
            <a:ext cx="152474" cy="15247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34669" y="1840929"/>
            <a:ext cx="3795489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Hotels &amp; Dining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4734669" y="2071390"/>
            <a:ext cx="3795489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Recommendations + budget estimation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496119" y="2441451"/>
            <a:ext cx="4030861" cy="1057126"/>
          </a:xfrm>
          <a:prstGeom prst="roundRect">
            <a:avLst>
              <a:gd name="adj" fmla="val 4488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13842" y="2559174"/>
            <a:ext cx="338882" cy="338882"/>
          </a:xfrm>
          <a:prstGeom prst="ellipse">
            <a:avLst/>
          </a:prstGeom>
          <a:solidFill>
            <a:srgbClr val="4950BC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7008" y="2652340"/>
            <a:ext cx="152474" cy="15247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13842" y="2988022"/>
            <a:ext cx="3795415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Multilingual Support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613842" y="3218483"/>
            <a:ext cx="3795415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Regional languages across India</a:t>
            </a:r>
            <a:endParaRPr lang="en-US" sz="850" dirty="0"/>
          </a:p>
        </p:txBody>
      </p:sp>
      <p:sp>
        <p:nvSpPr>
          <p:cNvPr id="19" name="Shape 14"/>
          <p:cNvSpPr/>
          <p:nvPr/>
        </p:nvSpPr>
        <p:spPr>
          <a:xfrm>
            <a:off x="4616946" y="2441451"/>
            <a:ext cx="4030935" cy="1057126"/>
          </a:xfrm>
          <a:prstGeom prst="roundRect">
            <a:avLst>
              <a:gd name="adj" fmla="val 4488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4734669" y="2559174"/>
            <a:ext cx="338882" cy="338882"/>
          </a:xfrm>
          <a:prstGeom prst="ellipse">
            <a:avLst/>
          </a:prstGeom>
          <a:solidFill>
            <a:srgbClr val="4950BC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827836" y="2652340"/>
            <a:ext cx="152474" cy="15247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4734669" y="2988022"/>
            <a:ext cx="3795489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Smart Routing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4734669" y="3218483"/>
            <a:ext cx="3795489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Weather &amp; traffic-aware optimization</a:t>
            </a:r>
            <a:endParaRPr lang="en-US" sz="850" dirty="0"/>
          </a:p>
        </p:txBody>
      </p:sp>
      <p:sp>
        <p:nvSpPr>
          <p:cNvPr id="24" name="Shape 18"/>
          <p:cNvSpPr/>
          <p:nvPr/>
        </p:nvSpPr>
        <p:spPr>
          <a:xfrm>
            <a:off x="496119" y="3588544"/>
            <a:ext cx="4030861" cy="1057126"/>
          </a:xfrm>
          <a:prstGeom prst="roundRect">
            <a:avLst>
              <a:gd name="adj" fmla="val 4488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613842" y="3706267"/>
            <a:ext cx="338882" cy="338882"/>
          </a:xfrm>
          <a:prstGeom prst="ellipse">
            <a:avLst/>
          </a:prstGeom>
          <a:solidFill>
            <a:srgbClr val="4950BC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07008" y="3799433"/>
            <a:ext cx="152474" cy="15247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13842" y="4135115"/>
            <a:ext cx="3795415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Cloud &amp; Offline</a:t>
            </a:r>
            <a:endParaRPr lang="en-US" sz="1100" dirty="0"/>
          </a:p>
        </p:txBody>
      </p:sp>
      <p:sp>
        <p:nvSpPr>
          <p:cNvPr id="28" name="Text 21"/>
          <p:cNvSpPr/>
          <p:nvPr/>
        </p:nvSpPr>
        <p:spPr>
          <a:xfrm>
            <a:off x="613842" y="4365575"/>
            <a:ext cx="3795415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Cloud DB + offline itinerary access</a:t>
            </a:r>
            <a:endParaRPr lang="en-US" sz="850" dirty="0"/>
          </a:p>
        </p:txBody>
      </p:sp>
      <p:sp>
        <p:nvSpPr>
          <p:cNvPr id="29" name="Shape 22"/>
          <p:cNvSpPr/>
          <p:nvPr/>
        </p:nvSpPr>
        <p:spPr>
          <a:xfrm>
            <a:off x="4616946" y="3588544"/>
            <a:ext cx="4030935" cy="1057126"/>
          </a:xfrm>
          <a:prstGeom prst="roundRect">
            <a:avLst>
              <a:gd name="adj" fmla="val 4488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4734669" y="3706267"/>
            <a:ext cx="338882" cy="338882"/>
          </a:xfrm>
          <a:prstGeom prst="ellipse">
            <a:avLst/>
          </a:prstGeom>
          <a:solidFill>
            <a:srgbClr val="4950BC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827836" y="3799433"/>
            <a:ext cx="152474" cy="15247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4734669" y="4135115"/>
            <a:ext cx="3795489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Community Features</a:t>
            </a:r>
            <a:endParaRPr lang="en-US" sz="1100" dirty="0"/>
          </a:p>
        </p:txBody>
      </p:sp>
      <p:sp>
        <p:nvSpPr>
          <p:cNvPr id="33" name="Text 25"/>
          <p:cNvSpPr/>
          <p:nvPr/>
        </p:nvSpPr>
        <p:spPr>
          <a:xfrm>
            <a:off x="4734669" y="4365575"/>
            <a:ext cx="3795489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 ratings, reviews &amp; saved history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2026-07-10T05:08:13Z</dcterms:created>
  <dcterms:modified xsi:type="dcterms:W3CDTF">2026-07-10T05:08:13Z</dcterms:modified>
</cp:coreProperties>
</file>